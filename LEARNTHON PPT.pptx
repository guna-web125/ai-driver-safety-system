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7"/>
  </p:notesMasterIdLst>
  <p:sldIdLst>
    <p:sldId id="271" r:id="rId5"/>
    <p:sldId id="300" r:id="rId6"/>
    <p:sldId id="308" r:id="rId7"/>
    <p:sldId id="317" r:id="rId8"/>
    <p:sldId id="311" r:id="rId9"/>
    <p:sldId id="287" r:id="rId10"/>
    <p:sldId id="315" r:id="rId11"/>
    <p:sldId id="316" r:id="rId12"/>
    <p:sldId id="309" r:id="rId13"/>
    <p:sldId id="310" r:id="rId14"/>
    <p:sldId id="301"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4"/>
    <a:srgbClr val="FF9900"/>
    <a:srgbClr val="E84845"/>
    <a:srgbClr val="FAD2D2"/>
    <a:srgbClr val="F89E4C"/>
    <a:srgbClr val="A81E24"/>
    <a:srgbClr val="FFF2CC"/>
    <a:srgbClr val="CF2F33"/>
    <a:srgbClr val="BA2532"/>
    <a:srgbClr val="E329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89"/>
  </p:normalViewPr>
  <p:slideViewPr>
    <p:cSldViewPr snapToGrid="0" showGuides="1">
      <p:cViewPr varScale="1">
        <p:scale>
          <a:sx n="70" d="100"/>
          <a:sy n="70" d="100"/>
        </p:scale>
        <p:origin x="536"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3/1/2026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3">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4">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9878"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11795" y="400772"/>
            <a:ext cx="5488721" cy="6194398"/>
          </a:xfrm>
          <a:prstGeom prst="rect">
            <a:avLst/>
          </a:prstGeom>
          <a:noFill/>
          <a:ln>
            <a:noFill/>
          </a:ln>
        </p:spPr>
      </p:pic>
      <p:sp>
        <p:nvSpPr>
          <p:cNvPr id="476" name="Google Shape;476;p16"/>
          <p:cNvSpPr txBox="1"/>
          <p:nvPr/>
        </p:nvSpPr>
        <p:spPr>
          <a:xfrm>
            <a:off x="2898979" y="2588921"/>
            <a:ext cx="9558491" cy="175428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             LEARNATHON</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dirty="0">
                <a:solidFill>
                  <a:schemeClr val="bg1">
                    <a:lumMod val="50000"/>
                  </a:schemeClr>
                </a:solidFill>
                <a:ea typeface="BioRhyme ExtraBold"/>
                <a:cs typeface="Poppins" panose="00000500000000000000" pitchFamily="2" charset="0"/>
                <a:sym typeface="BioRhyme ExtraBold"/>
              </a:rPr>
              <a:t>      </a:t>
            </a:r>
            <a:r>
              <a:rPr lang="en-IN" altLang="en-US" sz="2800" b="1" dirty="0">
                <a:solidFill>
                  <a:schemeClr val="bg1">
                    <a:lumMod val="50000"/>
                  </a:schemeClr>
                </a:solidFill>
                <a:ea typeface="BioRhyme ExtraBold"/>
                <a:cs typeface="Poppins" panose="00000500000000000000" pitchFamily="2" charset="0"/>
                <a:sym typeface="BioRhyme ExtraBold"/>
              </a:rPr>
              <a:t>  </a:t>
            </a:r>
            <a:r>
              <a:rPr lang="en-US" sz="2800" b="1" dirty="0">
                <a:solidFill>
                  <a:schemeClr val="bg1">
                    <a:lumMod val="50000"/>
                  </a:schemeClr>
                </a:solidFill>
                <a:ea typeface="BioRhyme ExtraBold"/>
                <a:cs typeface="Poppins" panose="00000500000000000000" pitchFamily="2" charset="0"/>
                <a:sym typeface="BioRhyme ExtraBold"/>
              </a:rPr>
              <a:t>PROJECT TITLE: Driver </a:t>
            </a:r>
            <a:r>
              <a:rPr lang="en-US" sz="2800" b="1" dirty="0" err="1">
                <a:solidFill>
                  <a:schemeClr val="bg1">
                    <a:lumMod val="50000"/>
                  </a:schemeClr>
                </a:solidFill>
                <a:ea typeface="BioRhyme ExtraBold"/>
                <a:cs typeface="Poppins" panose="00000500000000000000" pitchFamily="2" charset="0"/>
                <a:sym typeface="BioRhyme ExtraBold"/>
              </a:rPr>
              <a:t>Behaviour</a:t>
            </a:r>
            <a:r>
              <a:rPr lang="en-US" sz="2800" b="1" dirty="0">
                <a:solidFill>
                  <a:schemeClr val="bg1">
                    <a:lumMod val="50000"/>
                  </a:schemeClr>
                </a:solidFill>
                <a:ea typeface="BioRhyme ExtraBold"/>
                <a:cs typeface="Poppins" panose="00000500000000000000" pitchFamily="2" charset="0"/>
                <a:sym typeface="BioRhyme ExtraBold"/>
              </a:rPr>
              <a:t> &amp;Vehicle Tracking </a:t>
            </a:r>
          </a:p>
          <a:p>
            <a:pPr marR="0" lvl="0" indent="0" algn="ctr">
              <a:spcBef>
                <a:spcPts val="0"/>
              </a:spcBef>
              <a:spcAft>
                <a:spcPts val="0"/>
              </a:spcAft>
              <a:buNone/>
            </a:pPr>
            <a:r>
              <a:rPr lang="en-US" sz="2800" b="1" dirty="0">
                <a:solidFill>
                  <a:schemeClr val="bg1">
                    <a:lumMod val="50000"/>
                  </a:schemeClr>
                </a:solidFill>
                <a:ea typeface="BioRhyme ExtraBold"/>
                <a:cs typeface="Poppins" panose="00000500000000000000" pitchFamily="2" charset="0"/>
                <a:sym typeface="BioRhyme ExtraBold"/>
              </a:rPr>
              <a:t>System using Raspberry Pi		</a:t>
            </a:r>
            <a:endParaRPr lang="en-US" sz="4000" b="1" dirty="0">
              <a:solidFill>
                <a:srgbClr val="C00000"/>
              </a:solidFill>
              <a:effectLst/>
              <a:cs typeface="Poppins" panose="00000500000000000000" pitchFamily="2" charset="0"/>
            </a:endParaRPr>
          </a:p>
        </p:txBody>
      </p:sp>
      <p:sp>
        <p:nvSpPr>
          <p:cNvPr id="19" name="Rectangle: Rounded Corners 18"/>
          <p:cNvSpPr/>
          <p:nvPr/>
        </p:nvSpPr>
        <p:spPr>
          <a:xfrm>
            <a:off x="6311908" y="1707705"/>
            <a:ext cx="4570738" cy="678327"/>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5" name="Google Shape;475;p16"/>
          <p:cNvSpPr txBox="1"/>
          <p:nvPr/>
        </p:nvSpPr>
        <p:spPr>
          <a:xfrm>
            <a:off x="6287199" y="1685766"/>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cs typeface="Poppins" pitchFamily="2" charset="77"/>
              </a:rPr>
              <a:t>Department of ECE </a:t>
            </a:r>
          </a:p>
        </p:txBody>
      </p:sp>
      <p:sp>
        <p:nvSpPr>
          <p:cNvPr id="8" name="Google Shape;502;p17"/>
          <p:cNvSpPr/>
          <p:nvPr/>
        </p:nvSpPr>
        <p:spPr>
          <a:xfrm>
            <a:off x="6621948" y="4384626"/>
            <a:ext cx="5387825" cy="221054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Presented by:</a:t>
            </a:r>
          </a:p>
          <a:p>
            <a:pPr marL="0" marR="0" lvl="0" indent="0" algn="ctr" rtl="0">
              <a:spcBef>
                <a:spcPts val="0"/>
              </a:spcBef>
              <a:spcAft>
                <a:spcPts val="0"/>
              </a:spcAft>
              <a:buNone/>
            </a:pPr>
            <a:r>
              <a:rPr lang="en-IN" altLang="en-US" sz="2400" dirty="0">
                <a:solidFill>
                  <a:schemeClr val="lt1"/>
                </a:solidFill>
                <a:ea typeface="Calibri" panose="020F0502020204030204"/>
                <a:cs typeface="Poppins" panose="00000500000000000000" pitchFamily="2" charset="0"/>
                <a:sym typeface="Calibri" panose="020F0502020204030204"/>
              </a:rPr>
              <a:t>P. Ravi </a:t>
            </a:r>
            <a:r>
              <a:rPr lang="en-IN" altLang="en-US" sz="2400" dirty="0" err="1">
                <a:solidFill>
                  <a:schemeClr val="lt1"/>
                </a:solidFill>
                <a:ea typeface="Calibri" panose="020F0502020204030204"/>
                <a:cs typeface="Poppins" panose="00000500000000000000" pitchFamily="2" charset="0"/>
                <a:sym typeface="Calibri" panose="020F0502020204030204"/>
              </a:rPr>
              <a:t>teja</a:t>
            </a:r>
            <a:r>
              <a:rPr lang="en-IN" altLang="en-US" sz="2400" dirty="0">
                <a:solidFill>
                  <a:schemeClr val="lt1"/>
                </a:solidFill>
                <a:ea typeface="Calibri" panose="020F0502020204030204"/>
                <a:cs typeface="Poppins" panose="00000500000000000000" pitchFamily="2" charset="0"/>
                <a:sym typeface="Calibri" panose="020F0502020204030204"/>
              </a:rPr>
              <a:t> - 2300049180</a:t>
            </a:r>
          </a:p>
          <a:p>
            <a:pPr marL="0" marR="0" lvl="0" indent="0" algn="ctr" rtl="0">
              <a:spcBef>
                <a:spcPts val="0"/>
              </a:spcBef>
              <a:spcAft>
                <a:spcPts val="0"/>
              </a:spcAft>
              <a:buNone/>
            </a:pPr>
            <a:r>
              <a:rPr lang="en-IN" altLang="en-US" sz="2400" dirty="0">
                <a:solidFill>
                  <a:schemeClr val="lt1"/>
                </a:solidFill>
                <a:ea typeface="Calibri" panose="020F0502020204030204"/>
                <a:cs typeface="Poppins" panose="00000500000000000000" pitchFamily="2" charset="0"/>
                <a:sym typeface="Calibri" panose="020F0502020204030204"/>
              </a:rPr>
              <a:t>D. Guna </a:t>
            </a:r>
            <a:r>
              <a:rPr lang="en-IN" altLang="en-US" sz="2400" dirty="0" err="1">
                <a:solidFill>
                  <a:schemeClr val="lt1"/>
                </a:solidFill>
                <a:ea typeface="Calibri" panose="020F0502020204030204"/>
                <a:cs typeface="Poppins" panose="00000500000000000000" pitchFamily="2" charset="0"/>
                <a:sym typeface="Calibri" panose="020F0502020204030204"/>
              </a:rPr>
              <a:t>sekhar</a:t>
            </a:r>
            <a:r>
              <a:rPr lang="en-IN" altLang="en-US" sz="2400" dirty="0">
                <a:solidFill>
                  <a:schemeClr val="lt1"/>
                </a:solidFill>
                <a:ea typeface="Calibri" panose="020F0502020204030204"/>
                <a:cs typeface="Poppins" panose="00000500000000000000" pitchFamily="2" charset="0"/>
                <a:sym typeface="Calibri" panose="020F0502020204030204"/>
              </a:rPr>
              <a:t>   </a:t>
            </a:r>
            <a:r>
              <a:rPr lang="en-US" sz="2400" dirty="0">
                <a:solidFill>
                  <a:schemeClr val="lt1"/>
                </a:solidFill>
                <a:ea typeface="Calibri" panose="020F0502020204030204"/>
                <a:cs typeface="Poppins" panose="00000500000000000000" pitchFamily="2" charset="0"/>
                <a:sym typeface="Calibri" panose="020F0502020204030204"/>
              </a:rPr>
              <a:t>- 2300049125</a:t>
            </a:r>
            <a:endParaRPr lang="en-IN" altLang="en-US" sz="2400" dirty="0">
              <a:solidFill>
                <a:schemeClr val="lt1"/>
              </a:solidFill>
              <a:ea typeface="Calibri" panose="020F0502020204030204"/>
              <a:cs typeface="Poppins" panose="00000500000000000000" pitchFamily="2" charset="0"/>
              <a:sym typeface="Calibri" panose="020F0502020204030204"/>
            </a:endParaRPr>
          </a:p>
          <a:p>
            <a:pPr marL="0" marR="0" lvl="0" indent="0" algn="ctr" rtl="0">
              <a:spcBef>
                <a:spcPts val="0"/>
              </a:spcBef>
              <a:spcAft>
                <a:spcPts val="0"/>
              </a:spcAft>
              <a:buNone/>
            </a:pPr>
            <a:r>
              <a:rPr lang="en-IN" sz="2400" dirty="0">
                <a:solidFill>
                  <a:schemeClr val="lt1"/>
                </a:solidFill>
                <a:ea typeface="Calibri" panose="020F0502020204030204"/>
                <a:cs typeface="Poppins" panose="00000500000000000000" pitchFamily="2" charset="0"/>
                <a:sym typeface="Calibri" panose="020F0502020204030204"/>
              </a:rPr>
              <a:t>G. Dinesh - 2300049222</a:t>
            </a:r>
            <a:endParaRPr lang="en-US" sz="2400" dirty="0">
              <a:solidFill>
                <a:schemeClr val="lt1"/>
              </a:solidFill>
              <a:ea typeface="Calibri" panose="020F0502020204030204"/>
              <a:cs typeface="Poppins" panose="00000500000000000000" pitchFamily="2" charset="0"/>
              <a:sym typeface="Calibri" panose="020F0502020204030204"/>
            </a:endParaRPr>
          </a:p>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V. Jagannadha naga </a:t>
            </a:r>
            <a:r>
              <a:rPr lang="en-US" sz="2400" dirty="0" err="1">
                <a:solidFill>
                  <a:schemeClr val="lt1"/>
                </a:solidFill>
                <a:ea typeface="Calibri" panose="020F0502020204030204"/>
                <a:cs typeface="Poppins" panose="00000500000000000000" pitchFamily="2" charset="0"/>
                <a:sym typeface="Calibri" panose="020F0502020204030204"/>
              </a:rPr>
              <a:t>sai</a:t>
            </a:r>
            <a:r>
              <a:rPr lang="en-US" sz="2400" dirty="0">
                <a:solidFill>
                  <a:schemeClr val="lt1"/>
                </a:solidFill>
                <a:ea typeface="Calibri" panose="020F0502020204030204"/>
                <a:cs typeface="Poppins" panose="00000500000000000000" pitchFamily="2" charset="0"/>
                <a:sym typeface="Calibri" panose="020F0502020204030204"/>
              </a:rPr>
              <a:t> - 2300049</a:t>
            </a:r>
            <a:r>
              <a:rPr lang="en-IN" altLang="en-US" sz="2400" dirty="0">
                <a:solidFill>
                  <a:schemeClr val="lt1"/>
                </a:solidFill>
                <a:ea typeface="Calibri" panose="020F0502020204030204"/>
                <a:cs typeface="Poppins" panose="00000500000000000000" pitchFamily="2" charset="0"/>
                <a:sym typeface="Calibri" panose="020F0502020204030204"/>
              </a:rPr>
              <a:t>027</a:t>
            </a: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187979" y="195236"/>
            <a:ext cx="1918613" cy="602122"/>
          </a:xfrm>
          <a:prstGeom prst="rect">
            <a:avLst/>
          </a:prstGeom>
          <a:noFill/>
        </p:spPr>
      </p:pic>
      <p:sp>
        <p:nvSpPr>
          <p:cNvPr id="3" name="Google Shape;502;p17"/>
          <p:cNvSpPr/>
          <p:nvPr/>
        </p:nvSpPr>
        <p:spPr>
          <a:xfrm>
            <a:off x="2354497" y="5076287"/>
            <a:ext cx="4085225" cy="924443"/>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Guided by:</a:t>
            </a:r>
          </a:p>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DR.A.V.PRABHU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E293AE-C9E6-B0CA-54E6-DB2884549CF8}"/>
              </a:ext>
            </a:extLst>
          </p:cNvPr>
          <p:cNvSpPr/>
          <p:nvPr/>
        </p:nvSpPr>
        <p:spPr>
          <a:xfrm>
            <a:off x="1295400" y="914401"/>
            <a:ext cx="10704195" cy="5516626"/>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ounded Rectangle 17"/>
          <p:cNvSpPr/>
          <p:nvPr/>
        </p:nvSpPr>
        <p:spPr>
          <a:xfrm>
            <a:off x="4471372" y="84408"/>
            <a:ext cx="3011576" cy="51566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PROJECT</a:t>
            </a: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849259"/>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000" y="2601849"/>
            <a:ext cx="914400" cy="914400"/>
          </a:xfrm>
          <a:prstGeom prst="rect">
            <a:avLst/>
          </a:prstGeom>
        </p:spPr>
      </p:pic>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0" y="4575990"/>
            <a:ext cx="914400" cy="914400"/>
          </a:xfrm>
          <a:prstGeom prst="rect">
            <a:avLst/>
          </a:prstGeom>
        </p:spPr>
      </p:pic>
      <p:pic>
        <p:nvPicPr>
          <p:cNvPr id="12" name="Picture 2" descr="KL Deemed to be University Logo"/>
          <p:cNvPicPr>
            <a:picLocks noChangeAspect="1" noChangeArrowheads="1"/>
          </p:cNvPicPr>
          <p:nvPr/>
        </p:nvPicPr>
        <p:blipFill>
          <a:blip r:embed="rId8"/>
          <a:srcRect/>
          <a:stretch>
            <a:fillRect/>
          </a:stretch>
        </p:blipFill>
        <p:spPr bwMode="auto">
          <a:xfrm>
            <a:off x="138896" y="130126"/>
            <a:ext cx="1990725" cy="600076"/>
          </a:xfrm>
          <a:prstGeom prst="rect">
            <a:avLst/>
          </a:prstGeom>
          <a:noFill/>
        </p:spPr>
      </p:pic>
      <p:sp>
        <p:nvSpPr>
          <p:cNvPr id="13" name="TextBox 12"/>
          <p:cNvSpPr txBox="1"/>
          <p:nvPr/>
        </p:nvSpPr>
        <p:spPr>
          <a:xfrm>
            <a:off x="1389090" y="1009802"/>
            <a:ext cx="10587355" cy="1778000"/>
          </a:xfrm>
          <a:prstGeom prst="rect">
            <a:avLst/>
          </a:prstGeom>
          <a:noFill/>
        </p:spPr>
        <p:txBody>
          <a:bodyPr wrap="square" rtlCol="0">
            <a:noAutofit/>
          </a:bodyPr>
          <a:lstStyle/>
          <a:p>
            <a:pPr algn="just"/>
            <a:r>
              <a:rPr lang="en-US" sz="2000" b="1" dirty="0"/>
              <a:t>Aim</a:t>
            </a:r>
            <a:r>
              <a:rPr lang="en-US" sz="2000" dirty="0"/>
              <a:t>: To design and implement a real-time </a:t>
            </a:r>
            <a:r>
              <a:rPr lang="en-US" sz="2000" b="1" dirty="0"/>
              <a:t>Driver </a:t>
            </a:r>
            <a:r>
              <a:rPr lang="en-US" sz="2000" b="1" dirty="0" err="1"/>
              <a:t>Behaviour</a:t>
            </a:r>
            <a:r>
              <a:rPr lang="en-US" sz="2000" b="1" dirty="0"/>
              <a:t> and Vehicle Tracking System</a:t>
            </a:r>
            <a:r>
              <a:rPr lang="en-US" sz="2000" dirty="0"/>
              <a:t> using Raspberry Pi that monitors driving patterns (such as over-speeding, harsh braking, sudden acceleration, and rash turning) and tracks the live location of the vehicle using GPS technology, in order to improve road safety and enable remote vehicle monitoring.</a:t>
            </a:r>
            <a:endParaRPr lang="en-US" altLang="en-US" sz="2000" dirty="0"/>
          </a:p>
        </p:txBody>
      </p:sp>
      <p:sp>
        <p:nvSpPr>
          <p:cNvPr id="2" name="TextBox 1"/>
          <p:cNvSpPr txBox="1"/>
          <p:nvPr/>
        </p:nvSpPr>
        <p:spPr>
          <a:xfrm>
            <a:off x="1365940" y="2599071"/>
            <a:ext cx="10268782" cy="3447098"/>
          </a:xfrm>
          <a:prstGeom prst="rect">
            <a:avLst/>
          </a:prstGeom>
          <a:noFill/>
        </p:spPr>
        <p:txBody>
          <a:bodyPr wrap="square" rtlCol="0">
            <a:spAutoFit/>
          </a:bodyPr>
          <a:lstStyle/>
          <a:p>
            <a:pPr algn="just"/>
            <a:r>
              <a:rPr lang="en-US" sz="2000" b="1" dirty="0"/>
              <a:t>P</a:t>
            </a:r>
            <a:r>
              <a:rPr lang="en-GB" sz="2000" b="1" dirty="0"/>
              <a:t>ROBLEM STATEMENT:-</a:t>
            </a:r>
          </a:p>
          <a:p>
            <a:pPr marL="342900" indent="-342900" algn="just">
              <a:buFont typeface="Arial" panose="020B0604020202020204" pitchFamily="34" charset="0"/>
              <a:buChar char="•"/>
            </a:pPr>
            <a:r>
              <a:rPr lang="en-US" sz="2000" dirty="0"/>
              <a:t>Road accidents are increasing due to </a:t>
            </a:r>
            <a:r>
              <a:rPr lang="en-US" sz="2000" b="1" dirty="0"/>
              <a:t>rash driving, over-speeding, and careless driver behavior</a:t>
            </a:r>
            <a:r>
              <a:rPr lang="en-US" sz="2000" dirty="0"/>
              <a:t>. </a:t>
            </a:r>
          </a:p>
          <a:p>
            <a:pPr marL="342900" indent="-342900" algn="just">
              <a:buFont typeface="Arial" panose="020B0604020202020204" pitchFamily="34" charset="0"/>
              <a:buChar char="•"/>
            </a:pPr>
            <a:r>
              <a:rPr lang="en-US" sz="2000" dirty="0"/>
              <a:t>Vehicle owners and fleet managers lack </a:t>
            </a:r>
            <a:r>
              <a:rPr lang="en-US" sz="2000" b="1" dirty="0"/>
              <a:t>real-time information</a:t>
            </a:r>
            <a:r>
              <a:rPr lang="en-US" sz="2000" dirty="0"/>
              <a:t> about vehicle location and driving style. </a:t>
            </a:r>
          </a:p>
          <a:p>
            <a:pPr marL="342900" indent="-342900" algn="just">
              <a:buFont typeface="Arial" panose="020B0604020202020204" pitchFamily="34" charset="0"/>
              <a:buChar char="•"/>
            </a:pPr>
            <a:r>
              <a:rPr lang="en-US" sz="2000" dirty="0"/>
              <a:t>There is no immediate alert system to </a:t>
            </a:r>
            <a:r>
              <a:rPr lang="en-US" sz="2000" b="1" dirty="0"/>
              <a:t>warn authorities or vehicle owners</a:t>
            </a:r>
            <a:r>
              <a:rPr lang="en-US" sz="2000" dirty="0"/>
              <a:t> during unsafe driving. </a:t>
            </a:r>
          </a:p>
          <a:p>
            <a:pPr marL="342900" indent="-342900" algn="just">
              <a:buFont typeface="Arial" panose="020B0604020202020204" pitchFamily="34" charset="0"/>
              <a:buChar char="•"/>
            </a:pPr>
            <a:r>
              <a:rPr lang="en-US" sz="2000" dirty="0"/>
              <a:t>Monitoring multiple vehicles manually is </a:t>
            </a:r>
            <a:r>
              <a:rPr lang="en-US" sz="2000" b="1" dirty="0"/>
              <a:t>time-consuming and inefficient</a:t>
            </a:r>
            <a:r>
              <a:rPr lang="en-US" sz="2000" dirty="0"/>
              <a:t>. </a:t>
            </a:r>
          </a:p>
          <a:p>
            <a:pPr marL="342900" indent="-342900" algn="just">
              <a:buFont typeface="Arial" panose="020B0604020202020204" pitchFamily="34" charset="0"/>
              <a:buChar char="•"/>
            </a:pPr>
            <a:r>
              <a:rPr lang="en-US" sz="2000" dirty="0"/>
              <a:t>Lack of stored driving data makes it difficult to </a:t>
            </a:r>
            <a:r>
              <a:rPr lang="en-US" sz="2000" b="1" dirty="0"/>
              <a:t>analyze driver performance over time.</a:t>
            </a:r>
          </a:p>
          <a:p>
            <a:pPr marL="342900" indent="-342900" algn="just">
              <a:buFont typeface="Arial" panose="020B0604020202020204" pitchFamily="34" charset="0"/>
              <a:buChar char="•"/>
            </a:pPr>
            <a:r>
              <a:rPr lang="en-US" sz="2000" dirty="0"/>
              <a:t>Hence, there is a need for a </a:t>
            </a:r>
            <a:r>
              <a:rPr lang="en-US" sz="2000" b="1" dirty="0"/>
              <a:t>low-cost, real-time driver behavior monitoring and vehicle tracking system</a:t>
            </a:r>
            <a:r>
              <a:rPr lang="en-US" sz="2000" dirty="0"/>
              <a:t> using Raspberry Pi.</a:t>
            </a:r>
            <a:endParaRPr lang="en-US" altLang="en-US" sz="20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LIST OF THE COMPONENTS</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180121" y="178930"/>
            <a:ext cx="1990725" cy="600076"/>
          </a:xfrm>
          <a:prstGeom prst="rect">
            <a:avLst/>
          </a:prstGeom>
          <a:noFill/>
        </p:spPr>
      </p:pic>
      <p:pic>
        <p:nvPicPr>
          <p:cNvPr id="2" name="Graphic 1"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162" y="852712"/>
            <a:ext cx="914400" cy="914400"/>
          </a:xfrm>
          <a:prstGeom prst="rect">
            <a:avLst/>
          </a:prstGeom>
        </p:spPr>
      </p:pic>
      <p:pic>
        <p:nvPicPr>
          <p:cNvPr id="3" name="Graphic 2"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8162" y="2514600"/>
            <a:ext cx="914400" cy="914400"/>
          </a:xfrm>
          <a:prstGeom prst="rect">
            <a:avLst/>
          </a:prstGeom>
        </p:spPr>
      </p:pic>
      <p:pic>
        <p:nvPicPr>
          <p:cNvPr id="5" name="Graphic 4"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680" y="4176488"/>
            <a:ext cx="914400" cy="914400"/>
          </a:xfrm>
          <a:prstGeom prst="rect">
            <a:avLst/>
          </a:prstGeom>
        </p:spPr>
      </p:pic>
      <p:sp>
        <p:nvSpPr>
          <p:cNvPr id="6" name="TextBox 5"/>
          <p:cNvSpPr txBox="1"/>
          <p:nvPr/>
        </p:nvSpPr>
        <p:spPr>
          <a:xfrm>
            <a:off x="1578365" y="1025024"/>
            <a:ext cx="9907238" cy="8956298"/>
          </a:xfrm>
          <a:prstGeom prst="rect">
            <a:avLst/>
          </a:prstGeom>
          <a:noFill/>
        </p:spPr>
        <p:txBody>
          <a:bodyPr wrap="square" rtlCol="0">
            <a:spAutoFit/>
          </a:bodyPr>
          <a:lstStyle/>
          <a:p>
            <a:r>
              <a:rPr lang="en-IN" sz="2400" b="1" dirty="0"/>
              <a:t>HARDWARE COMPONENTS REQUIRED:</a:t>
            </a:r>
          </a:p>
          <a:p>
            <a:pPr lvl="0" eaLnBrk="0" fontAlgn="base" hangingPunct="0">
              <a:spcBef>
                <a:spcPct val="0"/>
              </a:spcBef>
              <a:spcAft>
                <a:spcPct val="0"/>
              </a:spcAft>
              <a:buFontTx/>
              <a:buChar char="•"/>
            </a:pPr>
            <a:r>
              <a:rPr lang="en-US" altLang="en-US" sz="2800" dirty="0">
                <a:latin typeface="Arial" panose="020B0604020202020204" pitchFamily="34" charset="0"/>
              </a:rPr>
              <a:t>Raspberry Pi 4 Model B</a:t>
            </a:r>
          </a:p>
          <a:p>
            <a:pPr lvl="0" eaLnBrk="0" fontAlgn="base" hangingPunct="0">
              <a:spcBef>
                <a:spcPct val="0"/>
              </a:spcBef>
              <a:spcAft>
                <a:spcPct val="0"/>
              </a:spcAft>
              <a:buFontTx/>
              <a:buChar char="•"/>
            </a:pPr>
            <a:r>
              <a:rPr lang="en-US" altLang="en-US" sz="2800" dirty="0">
                <a:latin typeface="Arial" panose="020B0604020202020204" pitchFamily="34" charset="0"/>
              </a:rPr>
              <a:t>MicroSD Card (16GB or higher)</a:t>
            </a:r>
          </a:p>
          <a:p>
            <a:pPr lvl="0" eaLnBrk="0" fontAlgn="base" hangingPunct="0">
              <a:spcBef>
                <a:spcPct val="0"/>
              </a:spcBef>
              <a:spcAft>
                <a:spcPct val="0"/>
              </a:spcAft>
              <a:buFontTx/>
              <a:buChar char="•"/>
            </a:pPr>
            <a:r>
              <a:rPr lang="en-US" altLang="en-US" sz="2800" dirty="0">
                <a:latin typeface="Arial" panose="020B0604020202020204" pitchFamily="34" charset="0"/>
              </a:rPr>
              <a:t>5V 3A Power Supply (for Raspberry Pi)</a:t>
            </a:r>
          </a:p>
          <a:p>
            <a:pPr lvl="0" eaLnBrk="0" fontAlgn="base" hangingPunct="0">
              <a:spcBef>
                <a:spcPct val="0"/>
              </a:spcBef>
              <a:spcAft>
                <a:spcPct val="0"/>
              </a:spcAft>
              <a:buFontTx/>
              <a:buChar char="•"/>
            </a:pPr>
            <a:r>
              <a:rPr lang="en-US" altLang="en-US" sz="2800" dirty="0">
                <a:latin typeface="Arial" panose="020B0604020202020204" pitchFamily="34" charset="0"/>
              </a:rPr>
              <a:t>USB Camera / Pi Camera Module</a:t>
            </a:r>
          </a:p>
          <a:p>
            <a:pPr lvl="0" eaLnBrk="0" fontAlgn="base" hangingPunct="0">
              <a:spcBef>
                <a:spcPct val="0"/>
              </a:spcBef>
              <a:spcAft>
                <a:spcPct val="0"/>
              </a:spcAft>
              <a:buFontTx/>
              <a:buChar char="•"/>
            </a:pPr>
            <a:r>
              <a:rPr lang="en-US" altLang="en-US" sz="2800" dirty="0">
                <a:latin typeface="Arial" panose="020B0604020202020204" pitchFamily="34" charset="0"/>
              </a:rPr>
              <a:t>HC-SR04 Ultrasonic Sensor</a:t>
            </a:r>
          </a:p>
          <a:p>
            <a:pPr lvl="0" eaLnBrk="0" fontAlgn="base" hangingPunct="0">
              <a:spcBef>
                <a:spcPct val="0"/>
              </a:spcBef>
              <a:spcAft>
                <a:spcPct val="0"/>
              </a:spcAft>
              <a:buFontTx/>
              <a:buChar char="•"/>
            </a:pPr>
            <a:r>
              <a:rPr lang="en-US" altLang="en-US" sz="2800" dirty="0">
                <a:latin typeface="Arial" panose="020B0604020202020204" pitchFamily="34" charset="0"/>
              </a:rPr>
              <a:t>SW-420 Vibration Sensor Module</a:t>
            </a:r>
          </a:p>
          <a:p>
            <a:pPr lvl="0" eaLnBrk="0" fontAlgn="base" hangingPunct="0">
              <a:spcBef>
                <a:spcPct val="0"/>
              </a:spcBef>
              <a:spcAft>
                <a:spcPct val="0"/>
              </a:spcAft>
              <a:buFontTx/>
              <a:buChar char="•"/>
            </a:pPr>
            <a:r>
              <a:rPr lang="en-US" altLang="en-US" sz="2800" dirty="0">
                <a:latin typeface="Arial" panose="020B0604020202020204" pitchFamily="34" charset="0"/>
              </a:rPr>
              <a:t>MPU6050</a:t>
            </a:r>
          </a:p>
          <a:p>
            <a:pPr lvl="0" eaLnBrk="0" fontAlgn="base" hangingPunct="0">
              <a:spcBef>
                <a:spcPct val="0"/>
              </a:spcBef>
              <a:spcAft>
                <a:spcPct val="0"/>
              </a:spcAft>
              <a:buFontTx/>
              <a:buChar char="•"/>
            </a:pPr>
            <a:r>
              <a:rPr lang="en-US" altLang="en-US" sz="2800" dirty="0">
                <a:latin typeface="Arial" panose="020B0604020202020204" pitchFamily="34" charset="0"/>
              </a:rPr>
              <a:t>16x2 LCD Display with I2C Module (PCF8574)</a:t>
            </a:r>
          </a:p>
          <a:p>
            <a:pPr lvl="0" eaLnBrk="0" fontAlgn="base" hangingPunct="0">
              <a:spcBef>
                <a:spcPct val="0"/>
              </a:spcBef>
              <a:spcAft>
                <a:spcPct val="0"/>
              </a:spcAft>
              <a:buFontTx/>
              <a:buChar char="•"/>
            </a:pPr>
            <a:r>
              <a:rPr lang="en-US" altLang="en-US" sz="2800" dirty="0">
                <a:latin typeface="Arial" panose="020B0604020202020204" pitchFamily="34" charset="0"/>
              </a:rPr>
              <a:t>Buzzer (5V Active Buzzer)</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11" name="Rectangle 5">
            <a:extLst>
              <a:ext uri="{FF2B5EF4-FFF2-40B4-BE49-F238E27FC236}">
                <a16:creationId xmlns:a16="http://schemas.microsoft.com/office/drawing/2014/main" id="{7548C83A-7A94-3A4E-DD6A-7614456E9D7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588692"/>
          </a:xfrm>
        </p:spPr>
        <p:txBody>
          <a:bodyPr/>
          <a:lstStyle/>
          <a:p>
            <a:r>
              <a:rPr lang="en-US" sz="2400" b="1" dirty="0"/>
              <a:t>SOFTWARE</a:t>
            </a:r>
            <a:r>
              <a:rPr lang="en-US" b="1" dirty="0"/>
              <a:t> </a:t>
            </a:r>
            <a:r>
              <a:rPr lang="en-US" sz="2400" b="1" dirty="0"/>
              <a:t>REQUIRED</a:t>
            </a:r>
            <a:r>
              <a:rPr lang="en-US" b="1" dirty="0"/>
              <a:t>:-</a:t>
            </a:r>
            <a:endParaRPr lang="en-US" sz="2400" b="1" dirty="0"/>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Raspberry Pi OS</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Python</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OpenCV (</a:t>
            </a:r>
            <a:r>
              <a:rPr lang="en-US" altLang="en-US" sz="1050" dirty="0">
                <a:latin typeface="Arial Unicode MS"/>
              </a:rPr>
              <a:t>cv2</a:t>
            </a:r>
            <a:r>
              <a:rPr lang="en-US" altLang="en-US" sz="900" dirty="0"/>
              <a:t>)</a:t>
            </a:r>
            <a:endParaRPr lang="en-US" altLang="en-US" sz="20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dirty="0" err="1">
                <a:latin typeface="Arial" panose="020B0604020202020204" pitchFamily="34" charset="0"/>
              </a:rPr>
              <a:t>MediaPipe</a:t>
            </a:r>
            <a:endParaRPr lang="en-US" altLang="en-US" sz="20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NumPy</a:t>
            </a:r>
          </a:p>
          <a:p>
            <a:pPr marL="0" lvl="0" indent="0" eaLnBrk="0" fontAlgn="base" hangingPunct="0">
              <a:lnSpc>
                <a:spcPct val="100000"/>
              </a:lnSpc>
              <a:spcBef>
                <a:spcPct val="0"/>
              </a:spcBef>
              <a:spcAft>
                <a:spcPct val="0"/>
              </a:spcAft>
              <a:buFontTx/>
              <a:buChar char="•"/>
            </a:pPr>
            <a:r>
              <a:rPr lang="en-US" altLang="en-US" sz="2000" dirty="0" err="1">
                <a:latin typeface="Arial" panose="020B0604020202020204" pitchFamily="34" charset="0"/>
              </a:rPr>
              <a:t>RPi.GPIO</a:t>
            </a:r>
            <a:r>
              <a:rPr lang="en-US" altLang="en-US" sz="2000" dirty="0">
                <a:latin typeface="Arial" panose="020B0604020202020204" pitchFamily="34" charset="0"/>
              </a:rPr>
              <a:t> Library</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mpu6050 Python Library</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RPLCD Library (for I2C LCD)</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Requests Library (for Telegram alerts)</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Socket Programming (Python built-in library)</a:t>
            </a:r>
          </a:p>
          <a:p>
            <a:pPr marL="0" lv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Telegram Bot API</a:t>
            </a:r>
          </a:p>
          <a:p>
            <a:endParaRPr lang="en-GB" sz="2000" dirty="0"/>
          </a:p>
          <a:p>
            <a:endParaRPr lang="en-GB" sz="2000" dirty="0"/>
          </a:p>
          <a:p>
            <a:endParaRPr lang="en-GB" sz="2000" dirty="0"/>
          </a:p>
        </p:txBody>
      </p:sp>
      <p:sp>
        <p:nvSpPr>
          <p:cNvPr id="4" name="Rounded Rectangle 17"/>
          <p:cNvSpPr>
            <a:spLocks noGrp="1"/>
          </p:cNvSpPr>
          <p:nvPr>
            <p:ph type="title"/>
          </p:nvPr>
        </p:nvSpPr>
        <p:spPr>
          <a:xfrm>
            <a:off x="2467896" y="384791"/>
            <a:ext cx="8128819" cy="9523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LIST OF THE COMPONENTS</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162046" y="205867"/>
            <a:ext cx="1990725" cy="600076"/>
          </a:xfrm>
          <a:prstGeom prst="rect">
            <a:avLst/>
          </a:prstGeom>
          <a:noFill/>
        </p:spPr>
      </p:pic>
      <p:pic>
        <p:nvPicPr>
          <p:cNvPr id="6" name="Graphic 5"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96715" y="5499917"/>
            <a:ext cx="914400" cy="914400"/>
          </a:xfrm>
          <a:prstGeom prst="rect">
            <a:avLst/>
          </a:prstGeom>
        </p:spPr>
      </p:pic>
      <p:pic>
        <p:nvPicPr>
          <p:cNvPr id="7" name="Graphic 6"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96715" y="4091741"/>
            <a:ext cx="914400" cy="914400"/>
          </a:xfrm>
          <a:prstGeom prst="rect">
            <a:avLst/>
          </a:prstGeom>
        </p:spPr>
      </p:pic>
      <p:pic>
        <p:nvPicPr>
          <p:cNvPr id="8" name="Graphic 7"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96715" y="2279387"/>
            <a:ext cx="914400" cy="914400"/>
          </a:xfrm>
          <a:prstGeom prst="rect">
            <a:avLst/>
          </a:prstGeom>
        </p:spPr>
      </p:pic>
      <p:sp>
        <p:nvSpPr>
          <p:cNvPr id="9" name="Rectangle 2">
            <a:extLst>
              <a:ext uri="{FF2B5EF4-FFF2-40B4-BE49-F238E27FC236}">
                <a16:creationId xmlns:a16="http://schemas.microsoft.com/office/drawing/2014/main" id="{DA7BDC6E-E204-B077-F502-C48DB27A929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8162" y="852712"/>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8162" y="2514600"/>
            <a:ext cx="914400" cy="914400"/>
          </a:xfrm>
          <a:prstGeom prst="rect">
            <a:avLst/>
          </a:prstGeom>
        </p:spPr>
      </p:pic>
      <p:sp>
        <p:nvSpPr>
          <p:cNvPr id="29" name="Rounded Rectangle 17"/>
          <p:cNvSpPr/>
          <p:nvPr/>
        </p:nvSpPr>
        <p:spPr>
          <a:xfrm>
            <a:off x="4212971" y="188260"/>
            <a:ext cx="3870831"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ABSTRACT </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8162" y="4176488"/>
            <a:ext cx="914400" cy="914400"/>
          </a:xfrm>
          <a:prstGeom prst="rect">
            <a:avLst/>
          </a:prstGeom>
        </p:spPr>
      </p:pic>
      <p:pic>
        <p:nvPicPr>
          <p:cNvPr id="12" name="Picture 2" descr="KL Deemed to be University Logo"/>
          <p:cNvPicPr>
            <a:picLocks noChangeAspect="1" noChangeArrowheads="1"/>
          </p:cNvPicPr>
          <p:nvPr/>
        </p:nvPicPr>
        <p:blipFill>
          <a:blip r:embed="rId8"/>
          <a:srcRect/>
          <a:stretch>
            <a:fillRect/>
          </a:stretch>
        </p:blipFill>
        <p:spPr bwMode="auto">
          <a:xfrm>
            <a:off x="162046" y="219110"/>
            <a:ext cx="1990725" cy="600076"/>
          </a:xfrm>
          <a:prstGeom prst="rect">
            <a:avLst/>
          </a:prstGeom>
          <a:noFill/>
        </p:spPr>
      </p:pic>
      <p:sp>
        <p:nvSpPr>
          <p:cNvPr id="4" name="TextBox 3"/>
          <p:cNvSpPr txBox="1"/>
          <p:nvPr/>
        </p:nvSpPr>
        <p:spPr>
          <a:xfrm>
            <a:off x="1826522" y="1566674"/>
            <a:ext cx="9869861" cy="5016758"/>
          </a:xfrm>
          <a:prstGeom prst="rect">
            <a:avLst/>
          </a:prstGeom>
          <a:noFill/>
        </p:spPr>
        <p:txBody>
          <a:bodyPr wrap="square" rtlCol="0">
            <a:spAutoFit/>
          </a:bodyPr>
          <a:lstStyle/>
          <a:p>
            <a:r>
              <a:rPr lang="en-US" sz="2000" dirty="0"/>
              <a:t>Road accidents are one of the major causes of injuries and fatalities worldwide, often resulting from unsafe driving practices such as over-speeding, sudden braking, and rash turning. To address this issue, the proposed project presents a </a:t>
            </a:r>
            <a:r>
              <a:rPr lang="en-US" sz="2000" b="1" dirty="0"/>
              <a:t>Driver </a:t>
            </a:r>
            <a:r>
              <a:rPr lang="en-US" sz="2000" b="1" dirty="0" err="1"/>
              <a:t>Behaviour</a:t>
            </a:r>
            <a:r>
              <a:rPr lang="en-US" sz="2000" b="1" dirty="0"/>
              <a:t> and Vehicle Tracking System</a:t>
            </a:r>
            <a:r>
              <a:rPr lang="en-US" sz="2000" dirty="0"/>
              <a:t> using the Raspberry Pi as the main processing unit. The system continuously monitors driving patterns using motion sensors such as an accelerometer and gyroscope, and tracks the real-time location of the vehicle using a GPS module.</a:t>
            </a:r>
          </a:p>
          <a:p>
            <a:endParaRPr lang="en-US" sz="2000" dirty="0"/>
          </a:p>
          <a:p>
            <a:r>
              <a:rPr lang="en-US" sz="2000" dirty="0"/>
              <a:t>The collected data is analyzed to detect abnormal driving behaviors like rapid acceleration, harsh braking, and sharp turns. In case of unsafe conditions, alerts can be sent to the vehicle owner or fleet manager through GSM or internet connectivity. Additionally, the system stores driving data for future analysis and performance evaluation.</a:t>
            </a:r>
          </a:p>
          <a:p>
            <a:endParaRPr lang="en-US" sz="2000" dirty="0"/>
          </a:p>
          <a:p>
            <a:r>
              <a:rPr lang="en-US" sz="2000" dirty="0"/>
              <a:t>This project aims to provide a low-cost, efficient, and real-time safety solution that enhances road safety, improves driver accountability, and enables effective vehicle monitoring for individuals and fleet management systems.</a:t>
            </a:r>
          </a:p>
          <a:p>
            <a:pPr marL="457200" indent="-457200">
              <a:buFont typeface="Wingdings" panose="05000000000000000000" pitchFamily="2" charset="2"/>
              <a:buChar char="Ø"/>
            </a:pPr>
            <a:endParaRPr lang="en-US" altLang="en-US" sz="20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527176" y="84408"/>
            <a:ext cx="422237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DIAGRAM</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254643" y="218725"/>
            <a:ext cx="1990725" cy="600076"/>
          </a:xfrm>
          <a:prstGeom prst="rect">
            <a:avLst/>
          </a:prstGeom>
          <a:noFill/>
        </p:spPr>
      </p:pic>
      <p:sp>
        <p:nvSpPr>
          <p:cNvPr id="18" name="TextBox 17"/>
          <p:cNvSpPr txBox="1"/>
          <p:nvPr/>
        </p:nvSpPr>
        <p:spPr>
          <a:xfrm>
            <a:off x="1442080" y="1203974"/>
            <a:ext cx="10086536" cy="4524315"/>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2" name="Graphic 1"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162" y="852712"/>
            <a:ext cx="914400" cy="914400"/>
          </a:xfrm>
          <a:prstGeom prst="rect">
            <a:avLst/>
          </a:prstGeom>
        </p:spPr>
      </p:pic>
      <p:pic>
        <p:nvPicPr>
          <p:cNvPr id="3" name="Graphic 2"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8162" y="2514600"/>
            <a:ext cx="914400" cy="914400"/>
          </a:xfrm>
          <a:prstGeom prst="rect">
            <a:avLst/>
          </a:prstGeom>
        </p:spPr>
      </p:pic>
      <p:pic>
        <p:nvPicPr>
          <p:cNvPr id="5" name="Graphic 4"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680" y="4176488"/>
            <a:ext cx="914400" cy="914400"/>
          </a:xfrm>
          <a:prstGeom prst="rect">
            <a:avLst/>
          </a:prstGeom>
        </p:spPr>
      </p:pic>
      <p:pic>
        <p:nvPicPr>
          <p:cNvPr id="6" name="Picture 5"/>
          <p:cNvPicPr>
            <a:picLocks noChangeAspect="1"/>
          </p:cNvPicPr>
          <p:nvPr/>
        </p:nvPicPr>
        <p:blipFill>
          <a:blip r:embed="rId9"/>
          <a:stretch>
            <a:fillRect/>
          </a:stretch>
        </p:blipFill>
        <p:spPr>
          <a:xfrm>
            <a:off x="3704590" y="852805"/>
            <a:ext cx="5560695" cy="55606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527176" y="84408"/>
            <a:ext cx="422237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DIAGRAM</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104173" y="252636"/>
            <a:ext cx="1990725" cy="600076"/>
          </a:xfrm>
          <a:prstGeom prst="rect">
            <a:avLst/>
          </a:prstGeom>
          <a:noFill/>
        </p:spPr>
      </p:pic>
      <p:pic>
        <p:nvPicPr>
          <p:cNvPr id="2" name="Graphic 1"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162" y="852712"/>
            <a:ext cx="914400" cy="914400"/>
          </a:xfrm>
          <a:prstGeom prst="rect">
            <a:avLst/>
          </a:prstGeom>
        </p:spPr>
      </p:pic>
      <p:pic>
        <p:nvPicPr>
          <p:cNvPr id="3" name="Graphic 2"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8162" y="2514600"/>
            <a:ext cx="914400" cy="914400"/>
          </a:xfrm>
          <a:prstGeom prst="rect">
            <a:avLst/>
          </a:prstGeom>
        </p:spPr>
      </p:pic>
      <p:pic>
        <p:nvPicPr>
          <p:cNvPr id="5" name="Graphic 4"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680" y="4176488"/>
            <a:ext cx="914400" cy="914400"/>
          </a:xfrm>
          <a:prstGeom prst="rect">
            <a:avLst/>
          </a:prstGeom>
        </p:spPr>
      </p:pic>
      <p:pic>
        <p:nvPicPr>
          <p:cNvPr id="39" name="Picture 38">
            <a:extLst>
              <a:ext uri="{FF2B5EF4-FFF2-40B4-BE49-F238E27FC236}">
                <a16:creationId xmlns:a16="http://schemas.microsoft.com/office/drawing/2014/main" id="{33307B50-A8F2-6A2D-E2FF-1A34EFA277AA}"/>
              </a:ext>
            </a:extLst>
          </p:cNvPr>
          <p:cNvPicPr>
            <a:picLocks noChangeAspect="1"/>
          </p:cNvPicPr>
          <p:nvPr/>
        </p:nvPicPr>
        <p:blipFill>
          <a:blip r:embed="rId9"/>
          <a:stretch>
            <a:fillRect/>
          </a:stretch>
        </p:blipFill>
        <p:spPr>
          <a:xfrm>
            <a:off x="2423160" y="852712"/>
            <a:ext cx="8284464" cy="5758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527176" y="84408"/>
            <a:ext cx="422237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WORKING</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208344" y="252636"/>
            <a:ext cx="1990725" cy="600076"/>
          </a:xfrm>
          <a:prstGeom prst="rect">
            <a:avLst/>
          </a:prstGeom>
          <a:noFill/>
        </p:spPr>
      </p:pic>
      <p:pic>
        <p:nvPicPr>
          <p:cNvPr id="2" name="Graphic 1"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162" y="852712"/>
            <a:ext cx="914400" cy="914400"/>
          </a:xfrm>
          <a:prstGeom prst="rect">
            <a:avLst/>
          </a:prstGeom>
        </p:spPr>
      </p:pic>
      <p:pic>
        <p:nvPicPr>
          <p:cNvPr id="3" name="Graphic 2"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8162" y="2514600"/>
            <a:ext cx="914400" cy="914400"/>
          </a:xfrm>
          <a:prstGeom prst="rect">
            <a:avLst/>
          </a:prstGeom>
        </p:spPr>
      </p:pic>
      <p:pic>
        <p:nvPicPr>
          <p:cNvPr id="5" name="Graphic 4"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680" y="4176488"/>
            <a:ext cx="914400" cy="914400"/>
          </a:xfrm>
          <a:prstGeom prst="rect">
            <a:avLst/>
          </a:prstGeom>
        </p:spPr>
      </p:pic>
      <p:sp>
        <p:nvSpPr>
          <p:cNvPr id="6" name="TextBox 5"/>
          <p:cNvSpPr txBox="1"/>
          <p:nvPr/>
        </p:nvSpPr>
        <p:spPr>
          <a:xfrm>
            <a:off x="1799590" y="955040"/>
            <a:ext cx="9931400" cy="5818551"/>
          </a:xfrm>
          <a:prstGeom prst="rect">
            <a:avLst/>
          </a:prstGeom>
          <a:noFill/>
        </p:spPr>
        <p:txBody>
          <a:bodyPr wrap="square" rtlCol="0">
            <a:noAutofit/>
          </a:bodyPr>
          <a:lstStyle/>
          <a:p>
            <a:r>
              <a:rPr lang="en-US" sz="2000" b="1" dirty="0"/>
              <a:t>1. Sensor Data Acquisition: </a:t>
            </a:r>
            <a:r>
              <a:rPr lang="en-US" sz="2000" dirty="0"/>
              <a:t>Motion sensors like accelerometer and gyroscope continuously monitor vehicle movement. They detect sudden acceleration, harsh braking, and sharp turns.</a:t>
            </a:r>
            <a:br>
              <a:rPr lang="en-US" sz="2000" dirty="0"/>
            </a:br>
            <a:r>
              <a:rPr lang="en-US" sz="2000" dirty="0"/>
              <a:t>A GPS module collects real-time location coordinates of the vehicle.</a:t>
            </a:r>
          </a:p>
          <a:p>
            <a:endParaRPr lang="en-US" sz="2000" dirty="0"/>
          </a:p>
          <a:p>
            <a:r>
              <a:rPr lang="en-US" sz="2000" b="1" dirty="0"/>
              <a:t>2. Data Processing by Raspberry Pi: </a:t>
            </a:r>
            <a:r>
              <a:rPr lang="en-US" sz="2000" dirty="0"/>
              <a:t>The Raspberry Pi receives data from sensors through communication interfaces. It processes the data using predefined threshold values.</a:t>
            </a:r>
            <a:br>
              <a:rPr lang="en-US" sz="2000" dirty="0"/>
            </a:br>
            <a:r>
              <a:rPr lang="en-US" sz="2000" dirty="0"/>
              <a:t>Unsafe driving behaviors are identified based on abnormal readings.</a:t>
            </a:r>
          </a:p>
          <a:p>
            <a:endParaRPr lang="en-US" sz="2000" b="1" dirty="0"/>
          </a:p>
          <a:p>
            <a:r>
              <a:rPr lang="en-US" sz="2000" b="1" dirty="0"/>
              <a:t>3. Vehicle Location Tracking: </a:t>
            </a:r>
            <a:r>
              <a:rPr lang="en-US" sz="2000" dirty="0"/>
              <a:t>The GPS module provides latitude and longitude information.</a:t>
            </a:r>
            <a:br>
              <a:rPr lang="en-US" sz="2000" dirty="0"/>
            </a:br>
            <a:r>
              <a:rPr lang="en-US" sz="2000" dirty="0"/>
              <a:t>The Raspberry Pi converts this data into readable location format. The vehicle’s position can be viewed on a monitoring dashboard or map.</a:t>
            </a:r>
          </a:p>
          <a:p>
            <a:endParaRPr lang="en-US" sz="2000" b="1" dirty="0"/>
          </a:p>
          <a:p>
            <a:r>
              <a:rPr lang="en-US" sz="2000" b="1" dirty="0"/>
              <a:t>4. Alert Generation System: </a:t>
            </a:r>
            <a:r>
              <a:rPr lang="en-US" sz="2000" dirty="0"/>
              <a:t>If abnormal driving is detected, the system triggers an alert.</a:t>
            </a:r>
            <a:br>
              <a:rPr lang="en-US" sz="2000" dirty="0"/>
            </a:br>
            <a:r>
              <a:rPr lang="en-US" sz="2000" dirty="0"/>
              <a:t>Notifications are sent via GSM module (SMS) or internet-based services. This ensures immediate information to the vehicle owner or manager.</a:t>
            </a:r>
          </a:p>
          <a:p>
            <a:endParaRPr lang="en-US" sz="2000" b="1" dirty="0"/>
          </a:p>
          <a:p>
            <a:r>
              <a:rPr lang="en-US" sz="2000" b="1" dirty="0"/>
              <a:t>5. Data Storage and Analysis: </a:t>
            </a:r>
            <a:r>
              <a:rPr lang="en-US" sz="2000" dirty="0"/>
              <a:t>All driving behavior and location data are stored in a database.</a:t>
            </a:r>
            <a:br>
              <a:rPr lang="en-US" sz="2000" dirty="0"/>
            </a:br>
            <a:r>
              <a:rPr lang="en-US" sz="2000" dirty="0"/>
              <a:t>The stored data can be reviewed for driver performance evaluation. Reports help in improving safety and monitoring efficiency.</a:t>
            </a:r>
          </a:p>
          <a:p>
            <a:pPr marL="342900" indent="-342900">
              <a:buFont typeface="Wingdings" panose="05000000000000000000" pitchFamily="2" charset="2"/>
              <a:buChar char="Ø"/>
            </a:pPr>
            <a:endParaRPr lang="en-US" altLang="en-US" sz="2000"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11535" y="114474"/>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FUTURE SCOPE &amp; ITS APPLICATIONS</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255417" y="286643"/>
            <a:ext cx="1990725" cy="600076"/>
          </a:xfrm>
          <a:prstGeom prst="rect">
            <a:avLst/>
          </a:prstGeom>
          <a:noFill/>
        </p:spPr>
      </p:pic>
      <p:sp>
        <p:nvSpPr>
          <p:cNvPr id="18" name="TextBox 17"/>
          <p:cNvSpPr txBox="1"/>
          <p:nvPr/>
        </p:nvSpPr>
        <p:spPr>
          <a:xfrm>
            <a:off x="1533832" y="1022556"/>
            <a:ext cx="9694607" cy="5324535"/>
          </a:xfrm>
          <a:prstGeom prst="rect">
            <a:avLst/>
          </a:prstGeom>
          <a:noFill/>
        </p:spPr>
        <p:txBody>
          <a:bodyPr wrap="square" rtlCol="0">
            <a:spAutoFit/>
          </a:bodyPr>
          <a:lstStyle/>
          <a:p>
            <a:r>
              <a:rPr lang="en-US" sz="2000" b="1" dirty="0"/>
              <a:t>1. Integration with AI &amp; Machine Learning: </a:t>
            </a:r>
            <a:r>
              <a:rPr lang="en-US" sz="2000" dirty="0"/>
              <a:t>The system can be enhanced using AI algorithms to predict accident-prone behavior. Machine learning models can classify driving patterns more accurately. This will improve real-time decision-making and safety recommendations.</a:t>
            </a:r>
          </a:p>
          <a:p>
            <a:r>
              <a:rPr lang="en-US" sz="2000" b="1" dirty="0"/>
              <a:t>2. Cloud-Based Advanced Analytics: </a:t>
            </a:r>
            <a:r>
              <a:rPr lang="en-US" sz="2000" dirty="0"/>
              <a:t>Future versions can store data on cloud platforms for large-scale analysis. Fleet managers can monitor multiple vehicles through a centralized dashboard. Big data analysis can help in improving driver training programs.</a:t>
            </a:r>
          </a:p>
          <a:p>
            <a:r>
              <a:rPr lang="en-US" sz="2000" b="1" dirty="0"/>
              <a:t>3. Integration with Smart City Infrastructure: </a:t>
            </a:r>
            <a:r>
              <a:rPr lang="en-US" sz="2000" dirty="0"/>
              <a:t>The system can be connected with traffic management systems. Real-time vehicle data can assist in reducing traffic congestion.</a:t>
            </a:r>
            <a:br>
              <a:rPr lang="en-US" sz="2000" dirty="0"/>
            </a:br>
            <a:r>
              <a:rPr lang="en-US" sz="2000" dirty="0"/>
              <a:t>It can support intelligent transportation systems (ITS) development.</a:t>
            </a:r>
          </a:p>
          <a:p>
            <a:r>
              <a:rPr lang="en-US" sz="2000" b="1" dirty="0"/>
              <a:t>4. Accident Detection &amp; Emergency Response: </a:t>
            </a:r>
            <a:r>
              <a:rPr lang="en-US" sz="2000" dirty="0"/>
              <a:t>Advanced sensors can detect collisions automatically. The system can send emergency alerts with live location to hospitals.</a:t>
            </a:r>
            <a:br>
              <a:rPr lang="en-US" sz="2000" dirty="0"/>
            </a:br>
            <a:r>
              <a:rPr lang="en-US" sz="2000" dirty="0"/>
              <a:t>This can reduce response time and save lives.</a:t>
            </a:r>
          </a:p>
          <a:p>
            <a:r>
              <a:rPr lang="en-US" sz="2000" b="1" dirty="0"/>
              <a:t>5. Mobile App &amp; IoT Expansion: </a:t>
            </a:r>
            <a:r>
              <a:rPr lang="en-US" sz="2000" dirty="0"/>
              <a:t>A dedicated mobile app can provide live tracking and driver reports. IoT integration can allow remote vehicle diagnostics. Over-the-air updates can improve system performance continuously.</a:t>
            </a:r>
          </a:p>
          <a:p>
            <a:pPr marL="342900" indent="-342900">
              <a:buFont typeface="Wingdings" panose="05000000000000000000" pitchFamily="2" charset="2"/>
              <a:buChar char="Ø"/>
            </a:pPr>
            <a:endParaRPr lang="en-US" altLang="en-US" sz="2000" dirty="0"/>
          </a:p>
        </p:txBody>
      </p:sp>
      <p:pic>
        <p:nvPicPr>
          <p:cNvPr id="2" name="Graphic 1"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162" y="852712"/>
            <a:ext cx="914400" cy="914400"/>
          </a:xfrm>
          <a:prstGeom prst="rect">
            <a:avLst/>
          </a:prstGeom>
        </p:spPr>
      </p:pic>
      <p:pic>
        <p:nvPicPr>
          <p:cNvPr id="3" name="Graphic 2"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8162" y="2514600"/>
            <a:ext cx="914400" cy="914400"/>
          </a:xfrm>
          <a:prstGeom prst="rect">
            <a:avLst/>
          </a:prstGeom>
        </p:spPr>
      </p:pic>
      <p:pic>
        <p:nvPicPr>
          <p:cNvPr id="5" name="Graphic 4"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680" y="4176488"/>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CONCLUSION</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180121" y="252636"/>
            <a:ext cx="1990725" cy="600076"/>
          </a:xfrm>
          <a:prstGeom prst="rect">
            <a:avLst/>
          </a:prstGeom>
          <a:noFill/>
        </p:spPr>
      </p:pic>
      <p:pic>
        <p:nvPicPr>
          <p:cNvPr id="2" name="Graphic 1" descr="Bullseye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162" y="852712"/>
            <a:ext cx="914400" cy="914400"/>
          </a:xfrm>
          <a:prstGeom prst="rect">
            <a:avLst/>
          </a:prstGeom>
        </p:spPr>
      </p:pic>
      <p:pic>
        <p:nvPicPr>
          <p:cNvPr id="3" name="Graphic 2" descr="Presentation with checklist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8162" y="2514600"/>
            <a:ext cx="914400" cy="914400"/>
          </a:xfrm>
          <a:prstGeom prst="rect">
            <a:avLst/>
          </a:prstGeom>
        </p:spPr>
      </p:pic>
      <p:pic>
        <p:nvPicPr>
          <p:cNvPr id="5" name="Graphic 4" descr="Idea outline"/>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7680" y="4176488"/>
            <a:ext cx="914400" cy="914400"/>
          </a:xfrm>
          <a:prstGeom prst="rect">
            <a:avLst/>
          </a:prstGeom>
        </p:spPr>
      </p:pic>
      <p:sp>
        <p:nvSpPr>
          <p:cNvPr id="7" name="TextBox 6"/>
          <p:cNvSpPr txBox="1"/>
          <p:nvPr/>
        </p:nvSpPr>
        <p:spPr>
          <a:xfrm>
            <a:off x="2707087" y="1884243"/>
            <a:ext cx="8330878" cy="3693319"/>
          </a:xfrm>
          <a:prstGeom prst="rect">
            <a:avLst/>
          </a:prstGeom>
          <a:noFill/>
        </p:spPr>
        <p:txBody>
          <a:bodyPr wrap="square">
            <a:spAutoFit/>
          </a:bodyPr>
          <a:lstStyle/>
          <a:p>
            <a:r>
              <a:rPr lang="en-US" dirty="0"/>
              <a:t>The </a:t>
            </a:r>
            <a:r>
              <a:rPr lang="en-US" b="1" dirty="0"/>
              <a:t>Driver </a:t>
            </a:r>
            <a:r>
              <a:rPr lang="en-US" b="1" dirty="0" err="1"/>
              <a:t>Behaviour</a:t>
            </a:r>
            <a:r>
              <a:rPr lang="en-US" b="1" dirty="0"/>
              <a:t> and Vehicle Tracking System</a:t>
            </a:r>
            <a:r>
              <a:rPr lang="en-US" dirty="0"/>
              <a:t> developed using the Raspberry Pi provides an effective solution for improving road safety and vehicle monitoring. The system continuously observes driving patterns such as over-speeding, sudden braking, rapid acceleration, and sharp turns using motion sensors, while simultaneously tracking real-time vehicle location through GPS technology.</a:t>
            </a:r>
          </a:p>
          <a:p>
            <a:r>
              <a:rPr lang="en-US" dirty="0"/>
              <a:t>By analyzing sensor data and generating instant alerts during unsafe driving conditions, the system enhances driver accountability and reduces the risk of accidents. The ability to store and review historical data further supports performance evaluation and long-term safety improvements.</a:t>
            </a:r>
          </a:p>
          <a:p>
            <a:r>
              <a:rPr lang="en-US" dirty="0"/>
              <a:t>Overall, this project offers a low-cost, reliable, and scalable solution suitable for personal vehicles, fleet management, public transport, and logistics services. With future enhancements such as AI integration and cloud analytics, the system can play a significant role in building smarter and safer transportation systems.</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TEAM MEMBERS DETAILS</a:t>
            </a:r>
          </a:p>
        </p:txBody>
      </p:sp>
      <p:sp>
        <p:nvSpPr>
          <p:cNvPr id="14" name="Rounded Rectangle 17"/>
          <p:cNvSpPr/>
          <p:nvPr/>
        </p:nvSpPr>
        <p:spPr>
          <a:xfrm>
            <a:off x="1220911" y="2180944"/>
            <a:ext cx="10187988"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GB" sz="2000" b="1" dirty="0">
                <a:ea typeface="Calibri" panose="020F0502020204030204"/>
                <a:cs typeface="Poppins" panose="00000500000000000000" pitchFamily="2" charset="0"/>
                <a:sym typeface="Calibri" panose="020F0502020204030204"/>
              </a:rPr>
              <a:t>Presented by:</a:t>
            </a:r>
          </a:p>
          <a:p>
            <a:pPr lvl="0" algn="ctr"/>
            <a:r>
              <a:rPr lang="en-IN" altLang="en-US" sz="1600" dirty="0">
                <a:ea typeface="Calibri" panose="020F0502020204030204"/>
                <a:cs typeface="Poppins" panose="00000500000000000000" pitchFamily="2" charset="0"/>
                <a:sym typeface="Calibri" panose="020F0502020204030204"/>
              </a:rPr>
              <a:t>P. Ravi Teja - 2300049180</a:t>
            </a:r>
          </a:p>
          <a:p>
            <a:pPr lvl="0" algn="ctr"/>
            <a:r>
              <a:rPr lang="en-IN" altLang="en-US" sz="1600" dirty="0">
                <a:ea typeface="Calibri" panose="020F0502020204030204"/>
                <a:cs typeface="Poppins" panose="00000500000000000000" pitchFamily="2" charset="0"/>
                <a:sym typeface="Calibri" panose="020F0502020204030204"/>
              </a:rPr>
              <a:t>D. Guna shaker   </a:t>
            </a:r>
            <a:r>
              <a:rPr lang="en-US" sz="1600" dirty="0">
                <a:ea typeface="Calibri" panose="020F0502020204030204"/>
                <a:cs typeface="Poppins" panose="00000500000000000000" pitchFamily="2" charset="0"/>
                <a:sym typeface="Calibri" panose="020F0502020204030204"/>
              </a:rPr>
              <a:t>- 2300049125</a:t>
            </a:r>
            <a:endParaRPr lang="en-IN" altLang="en-US" sz="1600" dirty="0">
              <a:ea typeface="Calibri" panose="020F0502020204030204"/>
              <a:cs typeface="Poppins" panose="00000500000000000000" pitchFamily="2" charset="0"/>
              <a:sym typeface="Calibri" panose="020F0502020204030204"/>
            </a:endParaRPr>
          </a:p>
          <a:p>
            <a:pPr lvl="0" algn="ctr"/>
            <a:r>
              <a:rPr lang="en-IN" sz="1600" dirty="0">
                <a:ea typeface="Calibri" panose="020F0502020204030204"/>
                <a:cs typeface="Poppins" panose="00000500000000000000" pitchFamily="2" charset="0"/>
                <a:sym typeface="Calibri" panose="020F0502020204030204"/>
              </a:rPr>
              <a:t>G. Dinesh - 2300049222</a:t>
            </a:r>
            <a:endParaRPr lang="en-US" sz="1600" dirty="0">
              <a:ea typeface="Calibri" panose="020F0502020204030204"/>
              <a:cs typeface="Poppins" panose="00000500000000000000" pitchFamily="2" charset="0"/>
              <a:sym typeface="Calibri" panose="020F0502020204030204"/>
            </a:endParaRPr>
          </a:p>
          <a:p>
            <a:pPr lvl="0" algn="ctr"/>
            <a:r>
              <a:rPr lang="en-US" sz="1600" dirty="0">
                <a:ea typeface="Calibri" panose="020F0502020204030204"/>
                <a:cs typeface="Poppins" panose="00000500000000000000" pitchFamily="2" charset="0"/>
                <a:sym typeface="Calibri" panose="020F0502020204030204"/>
              </a:rPr>
              <a:t>V. Jagannadha Naga Sai - 2300049</a:t>
            </a:r>
            <a:r>
              <a:rPr lang="en-IN" altLang="en-US" sz="1600" dirty="0">
                <a:ea typeface="Calibri" panose="020F0502020204030204"/>
                <a:cs typeface="Poppins" panose="00000500000000000000" pitchFamily="2" charset="0"/>
                <a:sym typeface="Calibri" panose="020F0502020204030204"/>
              </a:rPr>
              <a:t>027</a:t>
            </a:r>
          </a:p>
          <a:p>
            <a:pPr>
              <a:lnSpc>
                <a:spcPct val="150000"/>
              </a:lnSpc>
            </a:pP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225548" y="300929"/>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23SDEC06A– EMBEDDED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datastoreItem>
</file>

<file path=customXml/itemProps2.xml><?xml version="1.0" encoding="utf-8"?>
<ds:datastoreItem xmlns:ds="http://schemas.openxmlformats.org/officeDocument/2006/customXml" ds:itemID="{C89A6ECA-0C1B-4F00-836D-A696F073E5C2}">
  <ds:schemaRefs/>
</ds:datastoreItem>
</file>

<file path=customXml/itemProps3.xml><?xml version="1.0" encoding="utf-8"?>
<ds:datastoreItem xmlns:ds="http://schemas.openxmlformats.org/officeDocument/2006/customXml" ds:itemID="{EBBD0A98-E68B-4DAA-8964-2F739D6D4075}">
  <ds:schemaRefs/>
</ds:datastoreItem>
</file>

<file path=docProps/app.xml><?xml version="1.0" encoding="utf-8"?>
<Properties xmlns="http://schemas.openxmlformats.org/officeDocument/2006/extended-properties" xmlns:vt="http://schemas.openxmlformats.org/officeDocument/2006/docPropsVTypes">
  <Template>Office Theme</Template>
  <TotalTime>254</TotalTime>
  <Words>1103</Words>
  <Application>Microsoft Office PowerPoint</Application>
  <PresentationFormat>Widescreen</PresentationFormat>
  <Paragraphs>116</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Unicode MS</vt:lpstr>
      <vt:lpstr>BioRhyme ExtraBold</vt:lpstr>
      <vt:lpstr>Calibri</vt:lpstr>
      <vt:lpstr>Poppins</vt:lpstr>
      <vt:lpstr>Wingdings</vt:lpstr>
      <vt:lpstr>1_Office Theme</vt:lpstr>
      <vt:lpstr>PowerPoint Presentation</vt:lpstr>
      <vt:lpstr>PowerPoint Presentation</vt:lpstr>
      <vt:lpstr>PowerPoint Presentation</vt:lpstr>
      <vt:lpstr>LIST OF THE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 Dinesh</cp:lastModifiedBy>
  <cp:revision>52</cp:revision>
  <dcterms:created xsi:type="dcterms:W3CDTF">2020-02-08T09:57:00Z</dcterms:created>
  <dcterms:modified xsi:type="dcterms:W3CDTF">2026-03-01T06:10:51Z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61A6CFA59CAC4D73BA424DAF5FABA996_12</vt:lpwstr>
  </property>
  <property fmtid="{D5CDD505-2E9C-101B-9397-08002B2CF9AE}" pid="4" name="KSOProductBuildVer">
    <vt:lpwstr>1033-12.2.0.21931</vt:lpwstr>
  </property>
</Properties>
</file>